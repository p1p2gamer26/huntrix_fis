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2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3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1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D0CA21F-537A-4865-A563-399B8BE4793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DataProcessor’s code has the control over which implementation of Persistence will be used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A22DE3-475A-44EC-BDE4-1AA71EEA8AA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Calling code has the control over which implementation of Persistence will be used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9C409C-64B6-47DD-9726-3E46BD779DA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C51A4B-3D38-41EA-AE54-C0F9A5696A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1DDD9-5FC3-4AAD-ADB8-484D948CA9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0861F-5522-464D-8CC0-FC1EB175FA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55DEB0-C607-47F2-9F8F-5EED3FFF9C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50FC24-F5B3-4117-8B0A-D51D703E81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70CEA6-DE1D-4CAF-9C69-82E4A1DF6D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5519DE-16EE-4889-AA61-4F095AF057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167D50-7B0B-4E1C-BBCA-BF6791D408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24292F-90A5-42EE-BA8F-A1BD6BC248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591446-3DB1-4854-BB70-6730873D94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C273AA-0D9B-4D76-B6BD-90237D62A0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143C9D-1F89-4971-94FD-CA86BA1928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CB44A5-FEB8-48D6-A238-812029D424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160760-CFC0-4341-8C4A-81504E57DE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C26871-D9D2-4B09-9E5A-05C819C434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D969BA-4E48-4D71-90DF-C6518FC2D1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965925-E3BA-4B95-A705-3300B3D78C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CD8161-6AA7-4BE6-9181-97A0D8A22B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947FF2-19E6-448B-A71D-9CAFA1A7CC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097A88-9F34-4799-9955-6CA7C5D665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0EEDBA-C8DD-4BF9-ABB3-09450E1812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0C3B55-C179-470C-BE4C-DD889FC35A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9B7810-EF39-47B5-BF4A-EAB7EDCE1E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0D6D0E-DA4D-4D76-94E6-2E74902843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031CC51-7AA5-4284-A353-033E035F38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4A6732F-2FFA-4248-9519-E11FB633FE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5BA68D8-0B2C-43CE-B82A-E8A79B57B9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5B59F76-1C0B-468C-BC71-5C4D0EBF75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E4C1D85-9927-4BC5-ACF6-D86AA598A1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214EC1D-8794-4A7D-A9F1-7E30CFE92A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D655CEE-26A4-4B08-974C-D68D30D3C0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D5AA1C-2231-44AB-9584-4F9ECF5982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F203787-B915-4753-9363-64A62C4E5C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504BAB9-9640-4EE2-A336-1485180126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C512D8B-B29D-4433-B5DD-806FEC3FEE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29E56D3-8C67-459D-8DC6-74EF3845BA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style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s-E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52068A-3DE0-45F0-B0F9-0CE6B02E2A83}" type="slidenum">
              <a:rPr b="0" lang="es-E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title style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s-E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2BA8CB-8EAE-4022-9A27-BEBA60167B9B}" type="slidenum">
              <a:rPr b="0" lang="es-E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s-E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2DB407-1A66-4215-8F29-CAA3680DC408}" type="slidenum">
              <a:rPr b="0" lang="es-E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jpavlich@javeriana.edu.co" TargetMode="External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martinfowler.com/articles/injection.html" TargetMode="External"/><Relationship Id="rId2" Type="http://schemas.openxmlformats.org/officeDocument/2006/relationships/image" Target="../media/image1.wmf"/><Relationship Id="rId3" Type="http://schemas.openxmlformats.org/officeDocument/2006/relationships/image" Target="../media/image1.wmf"/><Relationship Id="rId4" Type="http://schemas.openxmlformats.org/officeDocument/2006/relationships/image" Target="../media/image1.wmf"/><Relationship Id="rId5" Type="http://schemas.openxmlformats.org/officeDocument/2006/relationships/image" Target="../media/image1.wmf"/><Relationship Id="rId6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9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9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s://martinfowler.com/bliki/BoundedContext.html" TargetMode="External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_tradnl" sz="4400" spc="-1" strike="noStrike">
                <a:solidFill>
                  <a:srgbClr val="000000"/>
                </a:solidFill>
                <a:latin typeface="Calibri"/>
              </a:rPr>
              <a:t>Patrones de Diseño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s-ES_tradnl" sz="3200" spc="-1" strike="noStrike">
                <a:solidFill>
                  <a:srgbClr val="8b8b8b"/>
                </a:solidFill>
                <a:latin typeface="Calibri"/>
              </a:rPr>
              <a:t>Jaime A. Pavlich-Mariscal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ctr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s-ES_tradnl" sz="2800" spc="-1" strike="noStrike" u="sng">
                <a:solidFill>
                  <a:srgbClr val="8b8bff"/>
                </a:solidFill>
                <a:uFillTx/>
                <a:latin typeface="Calibri"/>
                <a:hlinkClick r:id="rId1"/>
              </a:rPr>
              <a:t>jpavlich@javeriana.edu.co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¿Qué es un patrón de diseño?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8b8b8b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Patrones y paradigmas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90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00"/>
          </a:bodyPr>
          <a:p>
            <a:pPr marL="318240" indent="-318240">
              <a:lnSpc>
                <a:spcPct val="100000"/>
              </a:lnSpc>
              <a:spcBef>
                <a:spcPts val="62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100" spc="-1" strike="noStrike">
                <a:solidFill>
                  <a:srgbClr val="000000"/>
                </a:solidFill>
                <a:latin typeface="Calibri"/>
                <a:ea typeface="Calibri"/>
              </a:rPr>
              <a:t>Low Coupling (GRASP) + High Cohesion (GRASP)</a:t>
            </a:r>
            <a:endParaRPr b="0" lang="es-ES" sz="3100" spc="-1" strike="noStrike">
              <a:solidFill>
                <a:srgbClr val="000000"/>
              </a:solidFill>
              <a:latin typeface="Calibri"/>
            </a:endParaRPr>
          </a:p>
          <a:p>
            <a:pPr lvl="1" marL="689760" indent="-265320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  <a:ea typeface="Calibri"/>
              </a:rPr>
              <a:t>Single Responsibility Principle (SOLID)</a:t>
            </a:r>
            <a:endParaRPr b="0" lang="es-ES" sz="2700" spc="-1" strike="noStrike">
              <a:solidFill>
                <a:srgbClr val="000000"/>
              </a:solidFill>
              <a:latin typeface="Calibri"/>
            </a:endParaRPr>
          </a:p>
          <a:p>
            <a:pPr lvl="1" marL="689760" indent="-2653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Information Expert (GRASP) 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9760" indent="-2653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Creator (GRASP)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marL="318240" indent="-3182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Indirection (GRASP)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9760" indent="-2653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Controller (GRASP)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9760" indent="-2653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Façade (GoF)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marL="318240" indent="-3182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Open-Closed, Open for extension, closed for modification (SOLID) 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18240" indent="-3182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Polymorphism (GRASP) / Strategy (GoF) / Liskov Substitution Principle (SOLID)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18240" indent="-3182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Pure Fabrication (GRASP)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18240" indent="-3182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Protected Variations (GRASP)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18240" indent="-3182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Inversion of Control, Dependency Injection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18240" indent="-3182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Domain-Driven Development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Low Coupling + High Cohesion =&gt; 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Reducir dependencias + aumentar similitud dentro de un módulo o clase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Conceptos derivados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Single Responsibility Principle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Information expert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Creator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Protected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 Variations (Reducir impacto de los cambios)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Indirection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"Intermediación"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Patrones derivados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Controller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Façade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spcBef>
                <a:spcPts val="1417"/>
              </a:spcBef>
              <a:buNone/>
            </a:pP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000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Open-Closed, Open for extension, closed for modification (SOLID) 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Evitar modificar la interfaz existente de una clase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Permitir extender la interfaz de una clase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Polymorphism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Conceptos relacionados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Patrón Strategy (GoF)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Liskov Substitution Principle (SOLID)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Pure Fabrication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Definir una clase nueva para asignarle una responsabilidad, para la cual no hay una clase que, de manera evidentemente, la pueda asumir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Conceptos derivados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Controller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Repository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Services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000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2004: Inversion of Control</a:t>
            </a:r>
            <a:br>
              <a:rPr sz="4400"/>
            </a:b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Dependency Injection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2 Rectángulo 2"/>
          <p:cNvSpPr/>
          <p:nvPr/>
        </p:nvSpPr>
        <p:spPr>
          <a:xfrm>
            <a:off x="539640" y="1432080"/>
            <a:ext cx="2541600" cy="914040"/>
          </a:xfrm>
          <a:prstGeom prst="rect">
            <a:avLst/>
          </a:prstGeom>
          <a:gradFill rotWithShape="0">
            <a:gsLst>
              <a:gs pos="0">
                <a:srgbClr val="2e5f99"/>
              </a:gs>
              <a:gs pos="100000">
                <a:srgbClr val="3c7ac7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Calibri"/>
              </a:rPr>
              <a:t>Libraries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3 Rectángulo 2"/>
          <p:cNvSpPr/>
          <p:nvPr/>
        </p:nvSpPr>
        <p:spPr>
          <a:xfrm>
            <a:off x="6171120" y="1412640"/>
            <a:ext cx="2541600" cy="914040"/>
          </a:xfrm>
          <a:prstGeom prst="rect">
            <a:avLst/>
          </a:prstGeom>
          <a:gradFill rotWithShape="0">
            <a:gsLst>
              <a:gs pos="0">
                <a:srgbClr val="9c2f2c"/>
              </a:gs>
              <a:gs pos="100000">
                <a:srgbClr val="cb3d39"/>
              </a:gs>
            </a:gsLst>
            <a:lin ang="16200000"/>
          </a:gradFill>
          <a:ln>
            <a:solidFill>
              <a:srgbClr val="be4b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Calibri"/>
              </a:rPr>
              <a:t>Frameworks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6 Rectángulo 2"/>
          <p:cNvSpPr/>
          <p:nvPr/>
        </p:nvSpPr>
        <p:spPr>
          <a:xfrm>
            <a:off x="0" y="6488640"/>
            <a:ext cx="5505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hlinkClick r:id="rId1"/>
              </a:rPr>
              <a:t>http://martinfowler.com/articles/injection.html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9" name="7 Grupo 2"/>
          <p:cNvGrpSpPr/>
          <p:nvPr/>
        </p:nvGrpSpPr>
        <p:grpSpPr>
          <a:xfrm>
            <a:off x="870120" y="2872080"/>
            <a:ext cx="1528560" cy="1033920"/>
            <a:chOff x="870120" y="2872080"/>
            <a:chExt cx="1528560" cy="1033920"/>
          </a:xfrm>
        </p:grpSpPr>
        <p:sp>
          <p:nvSpPr>
            <p:cNvPr id="150" name="8 Rectángulo 2"/>
            <p:cNvSpPr/>
            <p:nvPr/>
          </p:nvSpPr>
          <p:spPr>
            <a:xfrm>
              <a:off x="870120" y="2872080"/>
              <a:ext cx="1528560" cy="1033920"/>
            </a:xfrm>
            <a:prstGeom prst="rect">
              <a:avLst/>
            </a:prstGeom>
            <a:gradFill rotWithShape="0">
              <a:gsLst>
                <a:gs pos="0">
                  <a:srgbClr val="ffded0"/>
                </a:gs>
                <a:gs pos="100000">
                  <a:srgbClr val="fff1ec"/>
                </a:gs>
              </a:gsLst>
              <a:lin ang="16200000"/>
            </a:gradFill>
            <a:ln w="38100">
              <a:solidFill>
                <a:srgbClr val="c00000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Programmers’ code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51" name="Picture 2" descr=""/>
            <p:cNvPicPr/>
            <p:nvPr/>
          </p:nvPicPr>
          <p:blipFill>
            <a:blip r:embed="rId2"/>
            <a:stretch/>
          </p:blipFill>
          <p:spPr>
            <a:xfrm>
              <a:off x="2116800" y="2964600"/>
              <a:ext cx="182520" cy="236160"/>
            </a:xfrm>
            <a:prstGeom prst="rect">
              <a:avLst/>
            </a:prstGeom>
            <a:ln w="38100">
              <a:noFill/>
            </a:ln>
          </p:spPr>
        </p:pic>
      </p:grpSp>
      <p:grpSp>
        <p:nvGrpSpPr>
          <p:cNvPr id="152" name="10 Grupo 2"/>
          <p:cNvGrpSpPr/>
          <p:nvPr/>
        </p:nvGrpSpPr>
        <p:grpSpPr>
          <a:xfrm>
            <a:off x="870120" y="4915080"/>
            <a:ext cx="1528560" cy="1033920"/>
            <a:chOff x="870120" y="4915080"/>
            <a:chExt cx="1528560" cy="1033920"/>
          </a:xfrm>
        </p:grpSpPr>
        <p:sp>
          <p:nvSpPr>
            <p:cNvPr id="153" name="11 Rectángulo 2"/>
            <p:cNvSpPr/>
            <p:nvPr/>
          </p:nvSpPr>
          <p:spPr>
            <a:xfrm>
              <a:off x="870120" y="4915080"/>
              <a:ext cx="1528560" cy="1033920"/>
            </a:xfrm>
            <a:prstGeom prst="rect">
              <a:avLst/>
            </a:prstGeom>
            <a:gradFill rotWithShape="0">
              <a:gsLst>
                <a:gs pos="0">
                  <a:srgbClr val="bfd4fe"/>
                </a:gs>
                <a:gs pos="100000">
                  <a:srgbClr val="e5efff"/>
                </a:gs>
              </a:gsLst>
              <a:lin ang="16200000"/>
            </a:gradFill>
            <a:ln>
              <a:solidFill>
                <a:srgbClr val="4a7ebb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Libraries’ code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54" name="Picture 7" descr=""/>
            <p:cNvPicPr/>
            <p:nvPr/>
          </p:nvPicPr>
          <p:blipFill>
            <a:blip r:embed="rId3"/>
            <a:stretch/>
          </p:blipFill>
          <p:spPr>
            <a:xfrm>
              <a:off x="2087640" y="4989240"/>
              <a:ext cx="182520" cy="236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5" name="13 Elipse 2"/>
          <p:cNvSpPr/>
          <p:nvPr/>
        </p:nvSpPr>
        <p:spPr>
          <a:xfrm>
            <a:off x="1515600" y="4312080"/>
            <a:ext cx="237240" cy="2372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56" name="14 Conector recto 2"/>
          <p:cNvCxnSpPr>
            <a:stCxn id="155" idx="4"/>
          </p:cNvCxnSpPr>
          <p:nvPr/>
        </p:nvCxnSpPr>
        <p:spPr>
          <a:xfrm>
            <a:off x="1634400" y="4549320"/>
            <a:ext cx="360" cy="3661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157" name="16 Conector recto 2"/>
          <p:cNvCxnSpPr/>
          <p:nvPr/>
        </p:nvCxnSpPr>
        <p:spPr>
          <a:xfrm>
            <a:off x="1634400" y="3906000"/>
            <a:ext cx="360" cy="3600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158" name="34 Arco 2"/>
          <p:cNvSpPr/>
          <p:nvPr/>
        </p:nvSpPr>
        <p:spPr>
          <a:xfrm>
            <a:off x="1472400" y="4266000"/>
            <a:ext cx="338040" cy="329400"/>
          </a:xfrm>
          <a:prstGeom prst="arc">
            <a:avLst>
              <a:gd name="adj1" fmla="val 10800000"/>
              <a:gd name="adj2" fmla="val 21447299"/>
            </a:avLst>
          </a:prstGeom>
          <a:noFill/>
          <a:ln w="28575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59" name="37 Grupo 2"/>
          <p:cNvGrpSpPr/>
          <p:nvPr/>
        </p:nvGrpSpPr>
        <p:grpSpPr>
          <a:xfrm>
            <a:off x="6677640" y="2853000"/>
            <a:ext cx="1528560" cy="1033920"/>
            <a:chOff x="6677640" y="2853000"/>
            <a:chExt cx="1528560" cy="1033920"/>
          </a:xfrm>
        </p:grpSpPr>
        <p:sp>
          <p:nvSpPr>
            <p:cNvPr id="160" name="38 Rectángulo 2"/>
            <p:cNvSpPr/>
            <p:nvPr/>
          </p:nvSpPr>
          <p:spPr>
            <a:xfrm>
              <a:off x="6677640" y="2853000"/>
              <a:ext cx="1528560" cy="1033920"/>
            </a:xfrm>
            <a:prstGeom prst="rect">
              <a:avLst/>
            </a:prstGeom>
            <a:gradFill rotWithShape="0">
              <a:gsLst>
                <a:gs pos="0">
                  <a:srgbClr val="ffc1be"/>
                </a:gs>
                <a:gs pos="100000">
                  <a:srgbClr val="ffe5e5"/>
                </a:gs>
              </a:gsLst>
              <a:lin ang="16200000"/>
            </a:gradFill>
            <a:ln>
              <a:solidFill>
                <a:srgbClr val="be4b48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Frameworks’ code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61" name="Picture 8" descr=""/>
            <p:cNvPicPr/>
            <p:nvPr/>
          </p:nvPicPr>
          <p:blipFill>
            <a:blip r:embed="rId4"/>
            <a:stretch/>
          </p:blipFill>
          <p:spPr>
            <a:xfrm>
              <a:off x="7924320" y="2945520"/>
              <a:ext cx="182520" cy="2361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2" name="40 Grupo 2"/>
          <p:cNvGrpSpPr/>
          <p:nvPr/>
        </p:nvGrpSpPr>
        <p:grpSpPr>
          <a:xfrm>
            <a:off x="6677640" y="4896000"/>
            <a:ext cx="1528560" cy="1033920"/>
            <a:chOff x="6677640" y="4896000"/>
            <a:chExt cx="1528560" cy="1033920"/>
          </a:xfrm>
        </p:grpSpPr>
        <p:sp>
          <p:nvSpPr>
            <p:cNvPr id="163" name="41 Rectángulo 2"/>
            <p:cNvSpPr/>
            <p:nvPr/>
          </p:nvSpPr>
          <p:spPr>
            <a:xfrm>
              <a:off x="6677640" y="4896000"/>
              <a:ext cx="1528560" cy="1033920"/>
            </a:xfrm>
            <a:prstGeom prst="rect">
              <a:avLst/>
            </a:prstGeom>
            <a:gradFill rotWithShape="0">
              <a:gsLst>
                <a:gs pos="0">
                  <a:srgbClr val="ffded0"/>
                </a:gs>
                <a:gs pos="100000">
                  <a:srgbClr val="fff1ec"/>
                </a:gs>
              </a:gsLst>
              <a:lin ang="16200000"/>
            </a:gradFill>
            <a:ln w="38100">
              <a:solidFill>
                <a:srgbClr val="c00000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dk1"/>
                  </a:solidFill>
                  <a:latin typeface="Calibri"/>
                </a:rPr>
                <a:t>Programmers’ code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64" name="Picture 9" descr=""/>
            <p:cNvPicPr/>
            <p:nvPr/>
          </p:nvPicPr>
          <p:blipFill>
            <a:blip r:embed="rId5"/>
            <a:stretch/>
          </p:blipFill>
          <p:spPr>
            <a:xfrm>
              <a:off x="7895160" y="4970160"/>
              <a:ext cx="182520" cy="236160"/>
            </a:xfrm>
            <a:prstGeom prst="rect">
              <a:avLst/>
            </a:prstGeom>
            <a:ln w="38100">
              <a:noFill/>
            </a:ln>
          </p:spPr>
        </p:pic>
      </p:grpSp>
      <p:sp>
        <p:nvSpPr>
          <p:cNvPr id="165" name="43 Elipse 2"/>
          <p:cNvSpPr/>
          <p:nvPr/>
        </p:nvSpPr>
        <p:spPr>
          <a:xfrm>
            <a:off x="7323120" y="4293000"/>
            <a:ext cx="237240" cy="2372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66" name="44 Conector recto 2"/>
          <p:cNvCxnSpPr>
            <a:stCxn id="165" idx="4"/>
          </p:cNvCxnSpPr>
          <p:nvPr/>
        </p:nvCxnSpPr>
        <p:spPr>
          <a:xfrm>
            <a:off x="7441920" y="4530240"/>
            <a:ext cx="360" cy="3661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167" name="45 Conector recto 2"/>
          <p:cNvCxnSpPr/>
          <p:nvPr/>
        </p:nvCxnSpPr>
        <p:spPr>
          <a:xfrm>
            <a:off x="7441920" y="3886920"/>
            <a:ext cx="360" cy="3600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168" name="46 Arco 2"/>
          <p:cNvSpPr/>
          <p:nvPr/>
        </p:nvSpPr>
        <p:spPr>
          <a:xfrm>
            <a:off x="7279560" y="4246920"/>
            <a:ext cx="338040" cy="329400"/>
          </a:xfrm>
          <a:prstGeom prst="arc">
            <a:avLst>
              <a:gd name="adj1" fmla="val 10800000"/>
              <a:gd name="adj2" fmla="val 21447299"/>
            </a:avLst>
          </a:prstGeom>
          <a:noFill/>
          <a:ln w="28575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47 Flecha derecha 2"/>
          <p:cNvSpPr/>
          <p:nvPr/>
        </p:nvSpPr>
        <p:spPr>
          <a:xfrm>
            <a:off x="3924000" y="2709000"/>
            <a:ext cx="1437480" cy="201204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Classic” Programming (no DI)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1" name="Picture 1" descr="\\VBOXSVR\jpavlich\Downloads\Screenshot - 09192016 - 04:27:40 PM.png"/>
          <p:cNvPicPr/>
          <p:nvPr/>
        </p:nvPicPr>
        <p:blipFill>
          <a:blip r:embed="rId1"/>
          <a:stretch/>
        </p:blipFill>
        <p:spPr>
          <a:xfrm>
            <a:off x="4579560" y="1340640"/>
            <a:ext cx="4484880" cy="19252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172" name="Picture 3" descr="\\VBOXSVR\jpavlich\Downloads\Screenshot - 09192016 - 04:29:59 PM.png"/>
          <p:cNvPicPr/>
          <p:nvPr/>
        </p:nvPicPr>
        <p:blipFill>
          <a:blip r:embed="rId2"/>
          <a:stretch/>
        </p:blipFill>
        <p:spPr>
          <a:xfrm>
            <a:off x="166680" y="1340640"/>
            <a:ext cx="4412520" cy="35416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173" name="2 CuadroTexto 2"/>
          <p:cNvSpPr/>
          <p:nvPr/>
        </p:nvSpPr>
        <p:spPr>
          <a:xfrm>
            <a:off x="3578400" y="6124680"/>
            <a:ext cx="2469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0000"/>
                </a:solidFill>
                <a:latin typeface="Calibri"/>
              </a:rPr>
              <a:t>Disadvantages?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Picture 4" descr="\\VBOXSVR\jpavlich\Downloads\Screenshot - 09192016 - 04:38:28 PM.png"/>
          <p:cNvPicPr/>
          <p:nvPr/>
        </p:nvPicPr>
        <p:blipFill>
          <a:blip r:embed="rId3"/>
          <a:stretch/>
        </p:blipFill>
        <p:spPr>
          <a:xfrm>
            <a:off x="1582560" y="5229360"/>
            <a:ext cx="5993280" cy="775440"/>
          </a:xfrm>
          <a:prstGeom prst="rect">
            <a:avLst/>
          </a:prstGeom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5" descr="\\VBOXSVR\jpavlich\Downloads\Screenshot - 09192016 - 04:38:40 PM.png"/>
          <p:cNvPicPr/>
          <p:nvPr/>
        </p:nvPicPr>
        <p:blipFill>
          <a:blip r:embed="rId1"/>
          <a:stretch/>
        </p:blipFill>
        <p:spPr>
          <a:xfrm>
            <a:off x="323640" y="5322600"/>
            <a:ext cx="8048520" cy="6771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Dependency Injection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7" name="Picture 11" descr="\\VBOXSVR\jpavlich\Downloads\Screenshot - 09192016 - 04:29:59 PM.png"/>
          <p:cNvPicPr/>
          <p:nvPr/>
        </p:nvPicPr>
        <p:blipFill>
          <a:blip r:embed="rId2"/>
          <a:stretch/>
        </p:blipFill>
        <p:spPr>
          <a:xfrm>
            <a:off x="166680" y="1340640"/>
            <a:ext cx="4412520" cy="35416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178" name="Picture 12" descr="\\VBOXSVR\jpavlich\Downloads\Screenshot - 09192016 - 04:33:43 PM.png"/>
          <p:cNvPicPr/>
          <p:nvPr/>
        </p:nvPicPr>
        <p:blipFill>
          <a:blip r:embed="rId3"/>
          <a:stretch/>
        </p:blipFill>
        <p:spPr>
          <a:xfrm>
            <a:off x="4594320" y="1333800"/>
            <a:ext cx="4240440" cy="28029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179" name="8 Rectángulo 1"/>
          <p:cNvSpPr/>
          <p:nvPr/>
        </p:nvSpPr>
        <p:spPr>
          <a:xfrm>
            <a:off x="4932000" y="1602720"/>
            <a:ext cx="3888000" cy="113904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9 Rectángulo 2"/>
          <p:cNvSpPr/>
          <p:nvPr/>
        </p:nvSpPr>
        <p:spPr>
          <a:xfrm>
            <a:off x="5364000" y="5229360"/>
            <a:ext cx="3008160" cy="524880"/>
          </a:xfrm>
          <a:prstGeom prst="rect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" name="10 CuadroTexto 2"/>
          <p:cNvSpPr/>
          <p:nvPr/>
        </p:nvSpPr>
        <p:spPr>
          <a:xfrm>
            <a:off x="2401560" y="6124680"/>
            <a:ext cx="52117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0000"/>
                </a:solidFill>
                <a:latin typeface="Calibri"/>
              </a:rPr>
              <a:t>Advantages?</a:t>
            </a:r>
            <a:r>
              <a:rPr b="1" lang="en-US" sz="2800" spc="-1" strike="noStrike">
                <a:solidFill>
                  <a:srgbClr val="ff0000"/>
                </a:solidFill>
                <a:latin typeface="Calibri"/>
              </a:rPr>
              <a:t>	</a:t>
            </a:r>
            <a:r>
              <a:rPr b="1" lang="en-US" sz="2800" spc="-1" strike="noStrike">
                <a:solidFill>
                  <a:srgbClr val="ff0000"/>
                </a:solidFill>
                <a:latin typeface="Calibri"/>
              </a:rPr>
              <a:t>Disadvantages?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Calibri"/>
              </a:rPr>
              <a:t>Domain-Driven Development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000"/>
          </a:bodyPr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Centrado en un Modelo de Dominio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Lenguaje Ubicuo 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14600" indent="-2746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Compartido entre desarrolladores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Entities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Value Objects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Aggregates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Services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Repositories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29760" indent="-3297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Bounded Contexts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Calibri"/>
              </a:rPr>
              <a:t>Entities, Value Objects, Aggregates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00"/>
          </a:bodyPr>
          <a:p>
            <a:pPr marL="314640" indent="-314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Entities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1480" indent="-262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Conceptos del dominio “autónomos”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1480" indent="-262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Ejemplo: “Persona”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marL="314640" indent="-314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Value Objects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1480" indent="-262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Conceptos que tienen sentido como parte de un concepto mayor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1480" indent="-262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Ejemplo: “Dirección”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marL="314640" indent="-314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Aggregates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1480" indent="-262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Grupos de Entities y Value Objects que forman una estructura jerárquica.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1480" indent="-262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Deben tratarse como una sola unidad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1480" indent="-262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Ejemplo: Shopping Cart -&gt; Item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Calibri"/>
              </a:rPr>
              <a:t>Services, Repositories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Services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Para implementar procesos que no caben en las clases del dominio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marL="857160"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s-CO" sz="2400" spc="-1" strike="noStrike">
                <a:solidFill>
                  <a:srgbClr val="000000"/>
                </a:solidFill>
                <a:latin typeface="Calibri"/>
              </a:rPr>
              <a:t>+ Pure Fabrication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marL="857160"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s-CO" sz="2400" spc="-1" strike="noStrike">
                <a:solidFill>
                  <a:srgbClr val="000000"/>
                </a:solidFill>
                <a:latin typeface="Calibri"/>
              </a:rPr>
              <a:t>- Information Expert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Repositories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CRUD de Entities y Aggregates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CO" sz="4400" spc="-1" strike="noStrike">
                <a:solidFill>
                  <a:srgbClr val="000000"/>
                </a:solidFill>
                <a:latin typeface="Calibri"/>
              </a:rPr>
              <a:t>Bounded Context</a:t>
            </a:r>
            <a:endParaRPr b="0" lang="es-E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7376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Estrategia de particionamiento de elementos de un modelo de dominio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3200" spc="-1" strike="noStrike">
                <a:solidFill>
                  <a:srgbClr val="000000"/>
                </a:solidFill>
                <a:latin typeface="Calibri"/>
              </a:rPr>
              <a:t>Manejar polisemia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Asiento”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2400" spc="-1" strike="noStrike">
                <a:solidFill>
                  <a:srgbClr val="000000"/>
                </a:solidFill>
                <a:latin typeface="Calibri"/>
              </a:rPr>
              <a:t>Contabilidad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2400" spc="-1" strike="noStrike">
                <a:solidFill>
                  <a:srgbClr val="000000"/>
                </a:solidFill>
                <a:latin typeface="Calibri"/>
              </a:rPr>
              <a:t>Aerolíneas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“</a:t>
            </a:r>
            <a:r>
              <a:rPr b="0" lang="es-CO" sz="2800" spc="-1" strike="noStrike">
                <a:solidFill>
                  <a:srgbClr val="000000"/>
                </a:solidFill>
                <a:latin typeface="Calibri"/>
              </a:rPr>
              <a:t>Ticket”</a:t>
            </a:r>
            <a:endParaRPr b="0" lang="es-E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2400" spc="-1" strike="noStrike">
                <a:solidFill>
                  <a:srgbClr val="000000"/>
                </a:solidFill>
                <a:latin typeface="Calibri"/>
              </a:rPr>
              <a:t>Soporte técnico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s-CO" sz="2400" spc="-1" strike="noStrike">
                <a:solidFill>
                  <a:srgbClr val="000000"/>
                </a:solidFill>
                <a:latin typeface="Calibri"/>
              </a:rPr>
              <a:t>Espectáculos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0" name="Picture 6" descr=""/>
          <p:cNvPicPr/>
          <p:nvPr/>
        </p:nvPicPr>
        <p:blipFill>
          <a:blip r:embed="rId1"/>
          <a:stretch/>
        </p:blipFill>
        <p:spPr>
          <a:xfrm>
            <a:off x="4267080" y="2819520"/>
            <a:ext cx="4647960" cy="2827080"/>
          </a:xfrm>
          <a:prstGeom prst="rect">
            <a:avLst/>
          </a:prstGeom>
          <a:ln w="0">
            <a:noFill/>
          </a:ln>
        </p:spPr>
      </p:pic>
      <p:sp>
        <p:nvSpPr>
          <p:cNvPr id="191" name="TextBox 9"/>
          <p:cNvSpPr/>
          <p:nvPr/>
        </p:nvSpPr>
        <p:spPr>
          <a:xfrm>
            <a:off x="5257800" y="5609520"/>
            <a:ext cx="4571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CO" sz="1200" spc="-1" strike="noStrike" u="sng">
                <a:solidFill>
                  <a:srgbClr val="0000ff"/>
                </a:solidFill>
                <a:uFillTx/>
                <a:latin typeface="Calibri"/>
                <a:hlinkClick r:id="rId2"/>
              </a:rPr>
              <a:t>https://martinfowler.com/bliki/BoundedContext.html</a:t>
            </a:r>
            <a:r>
              <a:rPr b="0" lang="es-CO" sz="1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23FA57BE7914E802B56172196CD76" ma:contentTypeVersion="7" ma:contentTypeDescription="Create a new document." ma:contentTypeScope="" ma:versionID="b8a126cc9cb93a3251a528add5f7fd41">
  <xsd:schema xmlns:xsd="http://www.w3.org/2001/XMLSchema" xmlns:xs="http://www.w3.org/2001/XMLSchema" xmlns:p="http://schemas.microsoft.com/office/2006/metadata/properties" xmlns:ns2="58dacf8b-21ac-4caf-b37d-70226383b942" targetNamespace="http://schemas.microsoft.com/office/2006/metadata/properties" ma:root="true" ma:fieldsID="7a810d8594538f1e95a0d60399333189" ns2:_="">
    <xsd:import namespace="58dacf8b-21ac-4caf-b37d-70226383b9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acf8b-21ac-4caf-b37d-70226383b9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9A3934-6908-4D3C-A003-9C0FBA18AA2D}"/>
</file>

<file path=customXml/itemProps2.xml><?xml version="1.0" encoding="utf-8"?>
<ds:datastoreItem xmlns:ds="http://schemas.openxmlformats.org/officeDocument/2006/customXml" ds:itemID="{C9C07BA8-9E03-48C3-897E-E965A71F1747}"/>
</file>

<file path=customXml/itemProps3.xml><?xml version="1.0" encoding="utf-8"?>
<ds:datastoreItem xmlns:ds="http://schemas.openxmlformats.org/officeDocument/2006/customXml" ds:itemID="{AA9C59B2-BDE0-4755-9F22-5977924C4B52}"/>
</file>

<file path=docProps/app.xml><?xml version="1.0" encoding="utf-8"?>
<Properties xmlns="http://schemas.openxmlformats.org/officeDocument/2006/extended-properties" xmlns:vt="http://schemas.openxmlformats.org/officeDocument/2006/docPropsVTypes">
  <Template>plantilla</Template>
  <TotalTime>1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Patrones de Dis</dc:title>
  <dc:subject/>
  <dc:creator>Jaime Andrés Pavlich Mariscal</dc:creator>
  <dc:description/>
  <cp:lastModifiedBy/>
  <cp:revision>3</cp:revision>
  <dcterms:created xsi:type="dcterms:W3CDTF">2024-08-14T19:36:50Z</dcterms:created>
  <dcterms:modified xsi:type="dcterms:W3CDTF">2024-08-29T15:07:32Z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12</vt:i4>
  </property>
  <property fmtid="{D5CDD505-2E9C-101B-9397-08002B2CF9AE}" pid="4" name="ContentTypeId">
    <vt:lpwstr>0x0101002B223FA57BE7914E802B56172196CD76</vt:lpwstr>
  </property>
</Properties>
</file>